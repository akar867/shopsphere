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3"/>
  </p:notesMasterIdLst>
  <p:sldIdLst>
    <p:sldId id="256" r:id="rId2"/>
    <p:sldId id="257" r:id="rId3"/>
    <p:sldId id="258" r:id="rId4"/>
    <p:sldId id="262" r:id="rId5"/>
    <p:sldId id="263" r:id="rId6"/>
    <p:sldId id="259" r:id="rId7"/>
    <p:sldId id="264" r:id="rId8"/>
    <p:sldId id="260" r:id="rId9"/>
    <p:sldId id="265" r:id="rId10"/>
    <p:sldId id="261" r:id="rId11"/>
    <p:sldId id="266"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80B2FC-17E9-40E4-86B5-7D99360D4564}" type="datetimeFigureOut">
              <a:rPr lang="en-IN" smtClean="0"/>
              <a:t>25-10-2025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5467E2-1EED-4716-877E-1FB2460B2BBE}" type="slidenum">
              <a:rPr lang="en-IN" smtClean="0"/>
              <a:t>‹#›</a:t>
            </a:fld>
            <a:endParaRPr lang="en-IN"/>
          </a:p>
        </p:txBody>
      </p:sp>
    </p:spTree>
    <p:extLst>
      <p:ext uri="{BB962C8B-B14F-4D97-AF65-F5344CB8AC3E}">
        <p14:creationId xmlns:p14="http://schemas.microsoft.com/office/powerpoint/2010/main" val="18774456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9" name="Rectangle 8"/>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Oval 9"/>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866440" y="2226503"/>
            <a:ext cx="5917679" cy="2550877"/>
          </a:xfrm>
        </p:spPr>
        <p:txBody>
          <a:bodyPr anchor="b"/>
          <a:lstStyle>
            <a:lvl1pPr>
              <a:defRPr sz="4800"/>
            </a:lvl1pPr>
          </a:lstStyle>
          <a:p>
            <a:r>
              <a:rPr lang="en-US"/>
              <a:t>Click to edit Master title style</a:t>
            </a:r>
            <a:endParaRPr lang="en-US" dirty="0"/>
          </a:p>
        </p:txBody>
      </p:sp>
      <p:sp>
        <p:nvSpPr>
          <p:cNvPr id="3" name="Subtitle 2"/>
          <p:cNvSpPr>
            <a:spLocks noGrp="1"/>
          </p:cNvSpPr>
          <p:nvPr>
            <p:ph type="subTitle" idx="1"/>
          </p:nvPr>
        </p:nvSpPr>
        <p:spPr>
          <a:xfrm>
            <a:off x="866440" y="4777380"/>
            <a:ext cx="5917679"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7498080" y="1828800"/>
            <a:ext cx="990599" cy="228659"/>
          </a:xfrm>
        </p:spPr>
        <p:txBody>
          <a:bodyPr anchor="t"/>
          <a:lstStyle>
            <a:lvl1pPr algn="l">
              <a:defRPr b="0" i="0">
                <a:solidFill>
                  <a:schemeClr val="bg1">
                    <a:alpha val="60000"/>
                  </a:schemeClr>
                </a:solidFill>
              </a:defRPr>
            </a:lvl1pPr>
          </a:lstStyle>
          <a:p>
            <a:fld id="{5BCAD085-E8A6-8845-BD4E-CB4CCA059FC4}" type="datetimeFigureOut">
              <a:rPr lang="en-US" smtClean="0"/>
              <a:t>10/25/2025</a:t>
            </a:fld>
            <a:endParaRPr lang="en-US"/>
          </a:p>
        </p:txBody>
      </p:sp>
      <p:sp>
        <p:nvSpPr>
          <p:cNvPr id="5" name="Footer Placeholder 4"/>
          <p:cNvSpPr>
            <a:spLocks noGrp="1"/>
          </p:cNvSpPr>
          <p:nvPr>
            <p:ph type="ftr" sz="quarter" idx="11"/>
          </p:nvPr>
        </p:nvSpPr>
        <p:spPr bwMode="gray">
          <a:xfrm rot="5400000">
            <a:off x="6236208" y="3264408"/>
            <a:ext cx="3859795" cy="228660"/>
          </a:xfrm>
        </p:spPr>
        <p:txBody>
          <a:bodyPr/>
          <a:lstStyle>
            <a:lvl1pPr>
              <a:defRPr b="0" i="0">
                <a:solidFill>
                  <a:schemeClr val="bg1">
                    <a:alpha val="60000"/>
                  </a:schemeClr>
                </a:solidFill>
              </a:defRPr>
            </a:lvl1pPr>
          </a:lstStyle>
          <a:p>
            <a:endParaRPr lang="en-US"/>
          </a:p>
        </p:txBody>
      </p:sp>
      <p:sp>
        <p:nvSpPr>
          <p:cNvPr id="11" name="Rectangle 10"/>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8"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40142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65970" y="927098"/>
            <a:ext cx="6343672" cy="709865"/>
          </a:xfrm>
        </p:spPr>
        <p:txBody>
          <a:bodyPr anchor="ctr"/>
          <a:lstStyle>
            <a:lvl1pPr>
              <a:defRPr sz="32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40255998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6200000">
              <a:off x="3105027"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p:nvPr/>
          </p:nvSpPr>
          <p:spPr bwMode="gray">
            <a:xfrm rot="15687606">
              <a:off x="3320102"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77534" y="2257588"/>
            <a:ext cx="3090672" cy="3020344"/>
          </a:xfrm>
        </p:spPr>
        <p:txBody>
          <a:bodyPr anchor="ct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5119261" y="2257588"/>
            <a:ext cx="3082516" cy="302034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10/25/2025</a:t>
            </a:fld>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1109695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t>Click to edit Master title style</a:t>
            </a:r>
            <a:endParaRPr lang="en-US" dirty="0"/>
          </a:p>
        </p:txBody>
      </p:sp>
      <p:sp>
        <p:nvSpPr>
          <p:cNvPr id="3" name="Content Placeholder 2"/>
          <p:cNvSpPr>
            <a:spLocks noGrp="1"/>
          </p:cNvSpPr>
          <p:nvPr>
            <p:ph sz="half" idx="1"/>
          </p:nvPr>
        </p:nvSpPr>
        <p:spPr>
          <a:xfrm>
            <a:off x="866440" y="2489200"/>
            <a:ext cx="3636980" cy="35306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0581" y="2489203"/>
            <a:ext cx="3636980" cy="3530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10/25/2025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9397794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69918" y="2489200"/>
            <a:ext cx="3633502" cy="759290"/>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66440" y="3248490"/>
            <a:ext cx="3636980" cy="277131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0581" y="2489200"/>
            <a:ext cx="3636979" cy="756635"/>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0581" y="3245835"/>
            <a:ext cx="3636980" cy="27739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10/25/2025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9737270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10/25/2025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5680458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Date Placeholder 1"/>
          <p:cNvSpPr>
            <a:spLocks noGrp="1"/>
          </p:cNvSpPr>
          <p:nvPr>
            <p:ph type="dt" sz="half" idx="10"/>
          </p:nvPr>
        </p:nvSpPr>
        <p:spPr/>
        <p:txBody>
          <a:bodyPr/>
          <a:lstStyle/>
          <a:p>
            <a:fld id="{5BCAD085-E8A6-8845-BD4E-CB4CCA059FC4}" type="datetimeFigureOut">
              <a:rPr lang="en-US" smtClean="0"/>
              <a:t>10/25/2025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8402176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548536"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2" name="Freeform 5"/>
            <p:cNvSpPr/>
            <p:nvPr/>
          </p:nvSpPr>
          <p:spPr bwMode="gray">
            <a:xfrm rot="15687606">
              <a:off x="2769747"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1447800"/>
            <a:ext cx="2712590" cy="1495588"/>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568927" y="1447800"/>
            <a:ext cx="3632850"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866441" y="3086845"/>
            <a:ext cx="2712589" cy="2933701"/>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10/25/2025</a:t>
            </a:fld>
            <a:endParaRPr lang="en-US"/>
          </a:p>
        </p:txBody>
      </p:sp>
      <p:sp>
        <p:nvSpPr>
          <p:cNvPr id="6" name="Footer Placeholder 5"/>
          <p:cNvSpPr>
            <a:spLocks noGrp="1"/>
          </p:cNvSpPr>
          <p:nvPr>
            <p:ph type="ftr" sz="quarter" idx="11"/>
          </p:nvPr>
        </p:nvSpPr>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803385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852610"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4" name="Freeform 5"/>
            <p:cNvSpPr/>
            <p:nvPr/>
          </p:nvSpPr>
          <p:spPr bwMode="gray">
            <a:xfrm rot="15687606">
              <a:off x="3074559"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1381390"/>
            <a:ext cx="2987089" cy="157480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722909" y="1320800"/>
            <a:ext cx="2791102" cy="421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0" y="3086100"/>
            <a:ext cx="2987089" cy="24511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10/25/2025</a:t>
            </a:fld>
            <a:endParaRPr lang="en-US"/>
          </a:p>
        </p:txBody>
      </p:sp>
      <p:sp>
        <p:nvSpPr>
          <p:cNvPr id="6" name="Footer Placeholder 5"/>
          <p:cNvSpPr>
            <a:spLocks noGrp="1"/>
          </p:cNvSpPr>
          <p:nvPr>
            <p:ph type="ftr" sz="quarter" idx="11"/>
          </p:nvPr>
        </p:nvSpPr>
        <p:spPr/>
        <p:txBody>
          <a:bodyPr/>
          <a:lstStyle/>
          <a:p>
            <a:endParaRPr lang="en-US"/>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8465715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10204164">
              <a:off x="426788" y="456424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6" name="Rectangle 15"/>
            <p:cNvSpPr/>
            <p:nvPr/>
          </p:nvSpPr>
          <p:spPr>
            <a:xfrm>
              <a:off x="421503" y="402165"/>
              <a:ext cx="8327939" cy="314113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0800000">
              <a:off x="485023" y="2670079"/>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1" y="4961454"/>
            <a:ext cx="642200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1" y="685800"/>
            <a:ext cx="6422004"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866440" y="5528192"/>
            <a:ext cx="6422004"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10/25/2025</a:t>
            </a:fld>
            <a:endParaRPr lang="en-US"/>
          </a:p>
        </p:txBody>
      </p:sp>
      <p:sp>
        <p:nvSpPr>
          <p:cNvPr id="6" name="Footer Placeholder 5"/>
          <p:cNvSpPr>
            <a:spLocks noGrp="1"/>
          </p:cNvSpPr>
          <p:nvPr>
            <p:ph type="ftr" sz="quarter" idx="11"/>
          </p:nvPr>
        </p:nvSpPr>
        <p:spPr/>
        <p:txBody>
          <a:bodyPr/>
          <a:lstStyle/>
          <a:p>
            <a:endParaRPr lang="en-US"/>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0366109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2780895"/>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Rectangle 8"/>
            <p:cNvSpPr/>
            <p:nvPr/>
          </p:nvSpPr>
          <p:spPr>
            <a:xfrm>
              <a:off x="485023" y="4343399"/>
              <a:ext cx="8182128" cy="21124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a:off x="485023" y="2854646"/>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927100"/>
            <a:ext cx="6422005" cy="1692720"/>
          </a:xfrm>
        </p:spPr>
        <p:txBody>
          <a:bodyPr/>
          <a:lstStyle>
            <a:lvl1pPr>
              <a:defRPr sz="3600"/>
            </a:lvl1pPr>
          </a:lstStyle>
          <a:p>
            <a:r>
              <a:rPr lang="en-US"/>
              <a:t>Click to edit Master title style</a:t>
            </a:r>
            <a:endParaRPr lang="en-US" dirty="0"/>
          </a:p>
        </p:txBody>
      </p:sp>
      <p:sp>
        <p:nvSpPr>
          <p:cNvPr id="13" name="Text Placeholder 3"/>
          <p:cNvSpPr>
            <a:spLocks noGrp="1"/>
          </p:cNvSpPr>
          <p:nvPr>
            <p:ph type="body" sz="half" idx="2"/>
          </p:nvPr>
        </p:nvSpPr>
        <p:spPr>
          <a:xfrm>
            <a:off x="866440" y="3488023"/>
            <a:ext cx="6422005" cy="2536857"/>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10/25/2025</a:t>
            </a:fld>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7233380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430920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10"/>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4"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3" name="TextBox 22"/>
          <p:cNvSpPr txBox="1"/>
          <p:nvPr/>
        </p:nvSpPr>
        <p:spPr bwMode="gray">
          <a:xfrm>
            <a:off x="647430" y="651690"/>
            <a:ext cx="601591"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14" name="TextBox 13"/>
          <p:cNvSpPr txBox="1"/>
          <p:nvPr/>
        </p:nvSpPr>
        <p:spPr bwMode="gray">
          <a:xfrm>
            <a:off x="7069418" y="2900292"/>
            <a:ext cx="619063"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128060" y="927099"/>
            <a:ext cx="6160385" cy="2882179"/>
          </a:xfrm>
        </p:spPr>
        <p:txBody>
          <a:bodyPr anchor="ctr"/>
          <a:lstStyle>
            <a:lvl1pPr>
              <a:defRPr sz="3600"/>
            </a:lvl1pPr>
          </a:lstStyle>
          <a:p>
            <a:r>
              <a:rPr lang="en-US"/>
              <a:t>Click to edit Master title style</a:t>
            </a:r>
            <a:endParaRPr lang="en-US" dirty="0"/>
          </a:p>
        </p:txBody>
      </p:sp>
      <p:sp>
        <p:nvSpPr>
          <p:cNvPr id="17" name="Text Placeholder 3"/>
          <p:cNvSpPr>
            <a:spLocks noGrp="1"/>
          </p:cNvSpPr>
          <p:nvPr>
            <p:ph type="body" sz="half" idx="13"/>
          </p:nvPr>
        </p:nvSpPr>
        <p:spPr bwMode="gray">
          <a:xfrm>
            <a:off x="1387278" y="3809278"/>
            <a:ext cx="5646143" cy="333113"/>
          </a:xfrm>
        </p:spPr>
        <p:txBody>
          <a:bodyPr>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6" name="Text Placeholder 3"/>
          <p:cNvSpPr>
            <a:spLocks noGrp="1"/>
          </p:cNvSpPr>
          <p:nvPr>
            <p:ph type="body" sz="half" idx="2"/>
          </p:nvPr>
        </p:nvSpPr>
        <p:spPr>
          <a:xfrm>
            <a:off x="866440" y="5000816"/>
            <a:ext cx="6343673" cy="1010619"/>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10/25/2025</a:t>
            </a:fld>
            <a:endParaRPr lang="en-US"/>
          </a:p>
        </p:txBody>
      </p:sp>
      <p:sp>
        <p:nvSpPr>
          <p:cNvPr id="5" name="Footer Placeholder 4"/>
          <p:cNvSpPr>
            <a:spLocks noGrp="1"/>
          </p:cNvSpPr>
          <p:nvPr>
            <p:ph type="ftr" sz="quarter" idx="11"/>
          </p:nvPr>
        </p:nvSpPr>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6512367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1588" y="0"/>
            <a:ext cx="9145588" cy="6860798"/>
            <a:chOff x="-1588" y="0"/>
            <a:chExt cx="9145588" cy="6860798"/>
          </a:xfrm>
        </p:grpSpPr>
        <p:sp>
          <p:nvSpPr>
            <p:cNvPr id="10" name="Rectangle 9"/>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p:nvPr/>
          </p:nvSpPr>
          <p:spPr bwMode="gray">
            <a:xfrm rot="21010068">
              <a:off x="6359946" y="431124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7"/>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7"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2057400"/>
            <a:ext cx="6422005" cy="20955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1" y="5024908"/>
            <a:ext cx="6422004" cy="994891"/>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10/25/2025</a:t>
            </a:fld>
            <a:endParaRPr lang="en-US"/>
          </a:p>
        </p:txBody>
      </p:sp>
      <p:sp>
        <p:nvSpPr>
          <p:cNvPr id="5" name="Footer Placeholder 4"/>
          <p:cNvSpPr>
            <a:spLocks noGrp="1"/>
          </p:cNvSpPr>
          <p:nvPr>
            <p:ph type="ftr" sz="quarter" idx="11"/>
          </p:nvPr>
        </p:nvSpPr>
        <p:spPr/>
        <p:txBody>
          <a:bodyPr/>
          <a:lstStyle/>
          <a:p>
            <a:endParaRPr lang="en-US"/>
          </a:p>
        </p:txBody>
      </p:sp>
      <p:sp>
        <p:nvSpPr>
          <p:cNvPr id="7" name="Rectangle 6"/>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1844425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423593" cy="709864"/>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6440" y="2489200"/>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Text Placeholder 3"/>
          <p:cNvSpPr>
            <a:spLocks noGrp="1"/>
          </p:cNvSpPr>
          <p:nvPr>
            <p:ph type="body" sz="half" idx="15"/>
          </p:nvPr>
        </p:nvSpPr>
        <p:spPr>
          <a:xfrm>
            <a:off x="866440" y="3147164"/>
            <a:ext cx="2313432"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05614"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Text Placeholder 3"/>
          <p:cNvSpPr>
            <a:spLocks noGrp="1"/>
          </p:cNvSpPr>
          <p:nvPr>
            <p:ph type="body" sz="half" idx="16"/>
          </p:nvPr>
        </p:nvSpPr>
        <p:spPr>
          <a:xfrm>
            <a:off x="3408471" y="3147164"/>
            <a:ext cx="2318918"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58642"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Text Placeholder 3"/>
          <p:cNvSpPr>
            <a:spLocks noGrp="1"/>
          </p:cNvSpPr>
          <p:nvPr>
            <p:ph type="body" sz="half" idx="17"/>
          </p:nvPr>
        </p:nvSpPr>
        <p:spPr>
          <a:xfrm>
            <a:off x="5960935" y="3147164"/>
            <a:ext cx="2316625"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294530"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CAD085-E8A6-8845-BD4E-CB4CCA059FC4}" type="datetimeFigureOut">
              <a:rPr lang="en-US" smtClean="0"/>
              <a:t>10/25/2025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9383525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345260" cy="709864"/>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6440" y="4179596"/>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Picture Placeholder 2"/>
          <p:cNvSpPr>
            <a:spLocks noGrp="1" noChangeAspect="1"/>
          </p:cNvSpPr>
          <p:nvPr>
            <p:ph type="pic" idx="15"/>
          </p:nvPr>
        </p:nvSpPr>
        <p:spPr>
          <a:xfrm>
            <a:off x="1019055"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8"/>
          </p:nvPr>
        </p:nvSpPr>
        <p:spPr>
          <a:xfrm>
            <a:off x="866439" y="4837558"/>
            <a:ext cx="2313432"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11125" y="4179595"/>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8" name="Picture Placeholder 2"/>
          <p:cNvSpPr>
            <a:spLocks noGrp="1" noChangeAspect="1"/>
          </p:cNvSpPr>
          <p:nvPr>
            <p:ph type="pic" idx="21"/>
          </p:nvPr>
        </p:nvSpPr>
        <p:spPr>
          <a:xfrm>
            <a:off x="3553189"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411125" y="484820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58642" y="4179596"/>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9" name="Picture Placeholder 2"/>
          <p:cNvSpPr>
            <a:spLocks noGrp="1" noChangeAspect="1"/>
          </p:cNvSpPr>
          <p:nvPr>
            <p:ph type="pic" idx="22"/>
          </p:nvPr>
        </p:nvSpPr>
        <p:spPr>
          <a:xfrm>
            <a:off x="6108641"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58642" y="483755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0" name="Straight Connector 39"/>
          <p:cNvCxnSpPr/>
          <p:nvPr/>
        </p:nvCxnSpPr>
        <p:spPr>
          <a:xfrm>
            <a:off x="3290019"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CAD085-E8A6-8845-BD4E-CB4CCA059FC4}" type="datetimeFigureOut">
              <a:rPr lang="en-US" smtClean="0"/>
              <a:t>10/25/2025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8943006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621301" y="6387910"/>
            <a:ext cx="990599" cy="228659"/>
          </a:xfrm>
        </p:spPr>
        <p:txBody>
          <a:bodyPr/>
          <a:lstStyle/>
          <a:p>
            <a:fld id="{5BCAD085-E8A6-8845-BD4E-CB4CCA059FC4}" type="datetimeFigureOut">
              <a:rPr lang="en-US" smtClean="0"/>
              <a:t>10/25/2025</a:t>
            </a:fld>
            <a:endParaRPr lang="en-US"/>
          </a:p>
        </p:txBody>
      </p:sp>
      <p:sp>
        <p:nvSpPr>
          <p:cNvPr id="5" name="Footer Placeholder 4"/>
          <p:cNvSpPr>
            <a:spLocks noGrp="1"/>
          </p:cNvSpPr>
          <p:nvPr>
            <p:ph type="ftr" sz="quarter" idx="11"/>
          </p:nvPr>
        </p:nvSpPr>
        <p:spPr>
          <a:xfrm>
            <a:off x="516133" y="6387910"/>
            <a:ext cx="3859795" cy="228660"/>
          </a:xfrm>
        </p:spPr>
        <p:txBody>
          <a:bodyPr/>
          <a:lstStyle/>
          <a:p>
            <a:endParaRPr lang="en-US"/>
          </a:p>
        </p:txBody>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8407771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p:cNvGrpSpPr/>
          <p:nvPr/>
        </p:nvGrpSpPr>
        <p:grpSpPr>
          <a:xfrm>
            <a:off x="-1588" y="0"/>
            <a:ext cx="9120420" cy="6860798"/>
            <a:chOff x="-1588" y="0"/>
            <a:chExt cx="9120420" cy="6860798"/>
          </a:xfrm>
        </p:grpSpPr>
        <p:sp>
          <p:nvSpPr>
            <p:cNvPr id="11" name="Rectangle 10"/>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4966650">
              <a:off x="4673046" y="5107506"/>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grpSp>
      <p:sp>
        <p:nvSpPr>
          <p:cNvPr id="17" name="Rectangle 16"/>
          <p:cNvSpPr/>
          <p:nvPr/>
        </p:nvSpPr>
        <p:spPr>
          <a:xfrm>
            <a:off x="414867" y="402165"/>
            <a:ext cx="46105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9"/>
          <p:cNvSpPr/>
          <p:nvPr/>
        </p:nvSpPr>
        <p:spPr bwMode="gray">
          <a:xfrm rot="5400000">
            <a:off x="1299309"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sp>
        <p:nvSpPr>
          <p:cNvPr id="2" name="Vertical Title 1"/>
          <p:cNvSpPr>
            <a:spLocks noGrp="1"/>
          </p:cNvSpPr>
          <p:nvPr>
            <p:ph type="title" orient="vert"/>
          </p:nvPr>
        </p:nvSpPr>
        <p:spPr>
          <a:xfrm>
            <a:off x="6174928" y="1447799"/>
            <a:ext cx="1113516" cy="4572001"/>
          </a:xfrm>
        </p:spPr>
        <p:txBody>
          <a:bodyPr vert="eaVert" anchor="ctr"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866738" y="1447799"/>
            <a:ext cx="4416936" cy="45720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10/25/2025</a:t>
            </a:fld>
            <a:endParaRPr lang="en-US"/>
          </a:p>
        </p:txBody>
      </p:sp>
      <p:sp>
        <p:nvSpPr>
          <p:cNvPr id="5" name="Footer Placeholder 4"/>
          <p:cNvSpPr>
            <a:spLocks noGrp="1"/>
          </p:cNvSpPr>
          <p:nvPr>
            <p:ph type="ftr" sz="quarter" idx="11"/>
          </p:nvPr>
        </p:nvSpPr>
        <p:spPr>
          <a:xfrm>
            <a:off x="538546" y="6365498"/>
            <a:ext cx="3859795" cy="228660"/>
          </a:xfrm>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0893971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14" name="Rectangle 13"/>
            <p:cNvSpPr/>
            <p:nvPr/>
          </p:nvSpPr>
          <p:spPr>
            <a:xfrm>
              <a:off x="0" y="0"/>
              <a:ext cx="9118832"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2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21010068">
              <a:off x="6359946" y="179029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5" name="Freeform 24"/>
            <p:cNvSpPr/>
            <p:nvPr/>
          </p:nvSpPr>
          <p:spPr bwMode="gray">
            <a:xfrm>
              <a:off x="485023" y="1856450"/>
              <a:ext cx="8173954" cy="4535226"/>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Placeholder 1"/>
          <p:cNvSpPr>
            <a:spLocks noGrp="1"/>
          </p:cNvSpPr>
          <p:nvPr>
            <p:ph type="title"/>
          </p:nvPr>
        </p:nvSpPr>
        <p:spPr bwMode="gray">
          <a:xfrm>
            <a:off x="866440" y="927099"/>
            <a:ext cx="6345260" cy="709865"/>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64382" y="2489200"/>
            <a:ext cx="6345260" cy="353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74443" y="6365498"/>
            <a:ext cx="990599" cy="228659"/>
          </a:xfrm>
          <a:prstGeom prst="rect">
            <a:avLst/>
          </a:prstGeom>
        </p:spPr>
        <p:txBody>
          <a:bodyPr vert="horz" lIns="91440" tIns="45720" rIns="91440" bIns="45720" rtlCol="0" anchor="b"/>
          <a:lstStyle>
            <a:lvl1pPr algn="r">
              <a:defRPr sz="900" b="1" i="0">
                <a:solidFill>
                  <a:schemeClr val="accent1"/>
                </a:solidFill>
              </a:defRPr>
            </a:lvl1pPr>
          </a:lstStyle>
          <a:p>
            <a:fld id="{5BCAD085-E8A6-8845-BD4E-CB4CCA059FC4}" type="datetimeFigureOut">
              <a:rPr lang="en-US" smtClean="0"/>
              <a:t>10/25/2025</a:t>
            </a:fld>
            <a:endParaRPr lang="en-US"/>
          </a:p>
        </p:txBody>
      </p:sp>
      <p:sp>
        <p:nvSpPr>
          <p:cNvPr id="5" name="Footer Placeholder 4"/>
          <p:cNvSpPr>
            <a:spLocks noGrp="1"/>
          </p:cNvSpPr>
          <p:nvPr>
            <p:ph type="ftr" sz="quarter" idx="3"/>
          </p:nvPr>
        </p:nvSpPr>
        <p:spPr>
          <a:xfrm>
            <a:off x="590843" y="6365497"/>
            <a:ext cx="3859795" cy="228660"/>
          </a:xfrm>
          <a:prstGeom prst="rect">
            <a:avLst/>
          </a:prstGeom>
        </p:spPr>
        <p:txBody>
          <a:bodyPr vert="horz" lIns="91440" tIns="45720" rIns="91440" bIns="45720" rtlCol="0" anchor="b"/>
          <a:lstStyle>
            <a:lvl1pPr algn="l">
              <a:defRPr sz="900" b="1" i="0">
                <a:solidFill>
                  <a:schemeClr val="accent1"/>
                </a:solidFill>
              </a:defRPr>
            </a:lvl1pPr>
          </a:lstStyle>
          <a:p>
            <a:endParaRPr lang="en-US"/>
          </a:p>
        </p:txBody>
      </p:sp>
      <p:sp>
        <p:nvSpPr>
          <p:cNvPr id="26" name="Rectangle 25"/>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8" name="Slide Number Placeholder 5"/>
          <p:cNvSpPr>
            <a:spLocks noGrp="1"/>
          </p:cNvSpPr>
          <p:nvPr>
            <p:ph type="sldNum" sz="quarter" idx="4"/>
          </p:nvPr>
        </p:nvSpPr>
        <p:spPr bwMode="gray">
          <a:xfrm>
            <a:off x="7678616" y="295730"/>
            <a:ext cx="791308" cy="767687"/>
          </a:xfrm>
          <a:prstGeom prst="rect">
            <a:avLst/>
          </a:prstGeom>
        </p:spPr>
        <p:txBody>
          <a:bodyPr anchor="b"/>
          <a:lstStyle>
            <a:lvl1pPr algn="ctr">
              <a:defRPr sz="2800">
                <a:solidFill>
                  <a:schemeClr val="bg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60766400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2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685800" indent="-283464"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96012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23444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150876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18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0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225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24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dirty="0"/>
              <a:t>The Ethics of the Extended Mind:</a:t>
            </a:r>
          </a:p>
          <a:p>
            <a:r>
              <a:rPr dirty="0"/>
              <a:t>Rethinking Technology as Part of Human Cognition</a:t>
            </a:r>
          </a:p>
        </p:txBody>
      </p:sp>
      <p:sp>
        <p:nvSpPr>
          <p:cNvPr id="3" name="Subtitle 2"/>
          <p:cNvSpPr>
            <a:spLocks noGrp="1"/>
          </p:cNvSpPr>
          <p:nvPr>
            <p:ph type="subTitle" idx="1"/>
          </p:nvPr>
        </p:nvSpPr>
        <p:spPr>
          <a:xfrm>
            <a:off x="3491653" y="5208090"/>
            <a:ext cx="5917679" cy="861420"/>
          </a:xfrm>
        </p:spPr>
        <p:txBody>
          <a:bodyPr>
            <a:normAutofit fontScale="92500" lnSpcReduction="20000"/>
          </a:bodyPr>
          <a:lstStyle/>
          <a:p>
            <a:r>
              <a:rPr dirty="0"/>
              <a:t>Arnab</a:t>
            </a:r>
            <a:r>
              <a:rPr lang="en-IN" dirty="0"/>
              <a:t> Kar(3493570)|Group ZZ</a:t>
            </a:r>
            <a:r>
              <a:rPr dirty="0"/>
              <a:t>|Ethics of Emerging Technologies</a:t>
            </a:r>
            <a:r>
              <a:rPr lang="en-IN" dirty="0"/>
              <a:t> (PHIL 6090)</a:t>
            </a:r>
            <a:endParaRPr dirty="0"/>
          </a:p>
          <a:p>
            <a:r>
              <a:rPr dirty="0"/>
              <a:t>Week 10 – Extended Minds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Introduction – The Importance of this Topic</a:t>
            </a:r>
            <a:endParaRPr dirty="0"/>
          </a:p>
        </p:txBody>
      </p:sp>
      <p:sp>
        <p:nvSpPr>
          <p:cNvPr id="3" name="Content Placeholder 2"/>
          <p:cNvSpPr>
            <a:spLocks noGrp="1"/>
          </p:cNvSpPr>
          <p:nvPr>
            <p:ph idx="1"/>
          </p:nvPr>
        </p:nvSpPr>
        <p:spPr/>
        <p:txBody>
          <a:bodyPr>
            <a:normAutofit fontScale="92500" lnSpcReduction="10000"/>
          </a:bodyPr>
          <a:lstStyle/>
          <a:p>
            <a:r>
              <a:rPr lang="en-US" dirty="0"/>
              <a:t>Historically, philosophical thinking has followed a paradigm that has posited the mind as restricted to the brain.</a:t>
            </a:r>
          </a:p>
          <a:p>
            <a:r>
              <a:rPr lang="en-US" dirty="0"/>
              <a:t>This is countered by the Extended Mind Theory (EMT) of philosopher Andy Clark and David Chalmers, with fundamental tenets that extend the cognitive process into tools, technologies, and environments.</a:t>
            </a:r>
            <a:endParaRPr dirty="0"/>
          </a:p>
          <a:p>
            <a:pPr marL="0" indent="0">
              <a:buNone/>
            </a:pPr>
            <a:r>
              <a:rPr lang="en-IN" dirty="0"/>
              <a:t>    Main Ethical Concern</a:t>
            </a:r>
            <a:r>
              <a:rPr dirty="0"/>
              <a:t>:</a:t>
            </a:r>
          </a:p>
          <a:p>
            <a:r>
              <a:rPr lang="en-US" dirty="0"/>
              <a:t>If thinking happens with some reliance on either our phones, notebooks, or hearing aids, should this access be protected like access to our minds?</a:t>
            </a:r>
            <a:br>
              <a:rPr lang="en-US" dirty="0"/>
            </a:br>
            <a:endParaRPr dirty="0"/>
          </a:p>
        </p:txBody>
      </p:sp>
      <p:sp>
        <p:nvSpPr>
          <p:cNvPr id="4" name="TextBox 3">
            <a:extLst>
              <a:ext uri="{FF2B5EF4-FFF2-40B4-BE49-F238E27FC236}">
                <a16:creationId xmlns:a16="http://schemas.microsoft.com/office/drawing/2014/main" id="{328DD5C7-21DA-B8F8-D323-C8EA6034B88E}"/>
              </a:ext>
            </a:extLst>
          </p:cNvPr>
          <p:cNvSpPr txBox="1"/>
          <p:nvPr/>
        </p:nvSpPr>
        <p:spPr>
          <a:xfrm>
            <a:off x="6007509" y="6019800"/>
            <a:ext cx="2812025" cy="369332"/>
          </a:xfrm>
          <a:prstGeom prst="rect">
            <a:avLst/>
          </a:prstGeom>
          <a:noFill/>
        </p:spPr>
        <p:txBody>
          <a:bodyPr wrap="square" rtlCol="0">
            <a:spAutoFit/>
          </a:bodyPr>
          <a:lstStyle/>
          <a:p>
            <a:r>
              <a:rPr lang="en-IN" dirty="0"/>
              <a:t>Clark &amp; Chalmers 1998</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Clark's Extended Mind Theory (EMT) of Cognition</a:t>
            </a:r>
            <a:endParaRPr dirty="0"/>
          </a:p>
        </p:txBody>
      </p:sp>
      <p:sp>
        <p:nvSpPr>
          <p:cNvPr id="3" name="Content Placeholder 2"/>
          <p:cNvSpPr>
            <a:spLocks noGrp="1"/>
          </p:cNvSpPr>
          <p:nvPr>
            <p:ph idx="1"/>
          </p:nvPr>
        </p:nvSpPr>
        <p:spPr/>
        <p:txBody>
          <a:bodyPr>
            <a:normAutofit fontScale="92500" lnSpcReduction="20000"/>
          </a:bodyPr>
          <a:lstStyle/>
          <a:p>
            <a:r>
              <a:rPr lang="en-US" dirty="0"/>
              <a:t>Cognition is not limited to skin and skull.</a:t>
            </a:r>
          </a:p>
          <a:p>
            <a:r>
              <a:rPr lang="en-US" dirty="0"/>
              <a:t>Otto's Notebook – We can think of one example of EMT as Otto. Otto has Alzheimer’s, and he uses his notebook to remind himself of various things, and when he relies on his notebook, he is demonstrating an alternative cognitive system just as Inga (an individual without any kind of cognitive limitation) does when she relies solely on her biological memory.</a:t>
            </a:r>
          </a:p>
          <a:p>
            <a:r>
              <a:rPr lang="en-US" dirty="0"/>
              <a:t>If Otto and Inga's behavior is guided equally, Otto's notebook and Inga's biological memory equally partake in the system of cognitive behavior. </a:t>
            </a:r>
            <a:endParaRPr lang="en-IN" dirty="0"/>
          </a:p>
          <a:p>
            <a:r>
              <a:rPr dirty="0"/>
              <a:t> </a:t>
            </a:r>
            <a:r>
              <a:rPr lang="en-US" dirty="0"/>
              <a:t>In short, cognition and mind are not confined to the brain, but in fact, they function as a system that includes brain, body, and environment. </a:t>
            </a:r>
            <a:endParaRPr dirty="0"/>
          </a:p>
        </p:txBody>
      </p:sp>
      <p:sp>
        <p:nvSpPr>
          <p:cNvPr id="4" name="TextBox 3">
            <a:extLst>
              <a:ext uri="{FF2B5EF4-FFF2-40B4-BE49-F238E27FC236}">
                <a16:creationId xmlns:a16="http://schemas.microsoft.com/office/drawing/2014/main" id="{1C187900-D871-8D68-04F5-9A8511DD291B}"/>
              </a:ext>
            </a:extLst>
          </p:cNvPr>
          <p:cNvSpPr txBox="1"/>
          <p:nvPr/>
        </p:nvSpPr>
        <p:spPr>
          <a:xfrm>
            <a:off x="6853084" y="6265295"/>
            <a:ext cx="1868129" cy="369332"/>
          </a:xfrm>
          <a:prstGeom prst="rect">
            <a:avLst/>
          </a:prstGeom>
          <a:noFill/>
        </p:spPr>
        <p:txBody>
          <a:bodyPr wrap="square" rtlCol="0">
            <a:spAutoFit/>
          </a:bodyPr>
          <a:lstStyle/>
          <a:p>
            <a:r>
              <a:rPr lang="en-IN" dirty="0"/>
              <a:t>Clark 2003, 48</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56B97-8A26-844B-F048-8C52F10ABB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67DAA2-B469-63F1-F4C1-892AA76F17B7}"/>
              </a:ext>
            </a:extLst>
          </p:cNvPr>
          <p:cNvSpPr>
            <a:spLocks noGrp="1"/>
          </p:cNvSpPr>
          <p:nvPr>
            <p:ph type="title"/>
          </p:nvPr>
        </p:nvSpPr>
        <p:spPr>
          <a:xfrm>
            <a:off x="457200" y="732503"/>
            <a:ext cx="8229600" cy="1143000"/>
          </a:xfrm>
        </p:spPr>
        <p:txBody>
          <a:bodyPr>
            <a:normAutofit fontScale="90000"/>
          </a:bodyPr>
          <a:lstStyle/>
          <a:p>
            <a:r>
              <a:rPr lang="en-US" dirty="0"/>
              <a:t>Historical Background – The Mind and the Brain</a:t>
            </a:r>
            <a:br>
              <a:rPr lang="en-US" dirty="0"/>
            </a:br>
            <a:endParaRPr dirty="0"/>
          </a:p>
        </p:txBody>
      </p:sp>
      <p:sp>
        <p:nvSpPr>
          <p:cNvPr id="3" name="Content Placeholder 2">
            <a:extLst>
              <a:ext uri="{FF2B5EF4-FFF2-40B4-BE49-F238E27FC236}">
                <a16:creationId xmlns:a16="http://schemas.microsoft.com/office/drawing/2014/main" id="{9A28629D-82A5-F9FC-7D70-12B89852C2DF}"/>
              </a:ext>
            </a:extLst>
          </p:cNvPr>
          <p:cNvSpPr>
            <a:spLocks noGrp="1"/>
          </p:cNvSpPr>
          <p:nvPr>
            <p:ph idx="1"/>
          </p:nvPr>
        </p:nvSpPr>
        <p:spPr/>
        <p:txBody>
          <a:bodyPr>
            <a:normAutofit/>
          </a:bodyPr>
          <a:lstStyle/>
          <a:p>
            <a:r>
              <a:rPr lang="en-US" dirty="0"/>
              <a:t>The mind–body question has its origins in philosophers of old such as Plato and Descartes.</a:t>
            </a:r>
          </a:p>
          <a:p>
            <a:r>
              <a:rPr lang="en-US" dirty="0"/>
              <a:t>Plato talked about memory functioning like a "block of wax" with various imprints.</a:t>
            </a:r>
          </a:p>
          <a:p>
            <a:r>
              <a:rPr lang="en-US" dirty="0"/>
              <a:t>Descartes argued for dualism—the mental and physical realms can exist separately.</a:t>
            </a:r>
          </a:p>
          <a:p>
            <a:r>
              <a:rPr dirty="0"/>
              <a:t> </a:t>
            </a:r>
            <a:r>
              <a:rPr lang="en-US" dirty="0"/>
              <a:t>In short, cognition and mind are not confined to the brain, but in fact, they function as a system that includes brain, body, and environment. </a:t>
            </a:r>
            <a:endParaRPr dirty="0"/>
          </a:p>
        </p:txBody>
      </p:sp>
      <p:sp>
        <p:nvSpPr>
          <p:cNvPr id="4" name="TextBox 3">
            <a:extLst>
              <a:ext uri="{FF2B5EF4-FFF2-40B4-BE49-F238E27FC236}">
                <a16:creationId xmlns:a16="http://schemas.microsoft.com/office/drawing/2014/main" id="{DDDBB8F4-E9EC-1473-96E8-D2AF09B01842}"/>
              </a:ext>
            </a:extLst>
          </p:cNvPr>
          <p:cNvSpPr txBox="1"/>
          <p:nvPr/>
        </p:nvSpPr>
        <p:spPr>
          <a:xfrm>
            <a:off x="6705600" y="6115665"/>
            <a:ext cx="2192594" cy="369332"/>
          </a:xfrm>
          <a:prstGeom prst="rect">
            <a:avLst/>
          </a:prstGeom>
          <a:noFill/>
        </p:spPr>
        <p:txBody>
          <a:bodyPr wrap="square" rtlCol="0">
            <a:spAutoFit/>
          </a:bodyPr>
          <a:lstStyle/>
          <a:p>
            <a:r>
              <a:rPr lang="en-IN" dirty="0" err="1"/>
              <a:t>Ricoeur</a:t>
            </a:r>
            <a:r>
              <a:rPr lang="en-IN" dirty="0"/>
              <a:t> 2004, 426</a:t>
            </a:r>
          </a:p>
        </p:txBody>
      </p:sp>
    </p:spTree>
    <p:extLst>
      <p:ext uri="{BB962C8B-B14F-4D97-AF65-F5344CB8AC3E}">
        <p14:creationId xmlns:p14="http://schemas.microsoft.com/office/powerpoint/2010/main" val="33173484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515C6-66F0-5E46-6076-874FE39FC7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173376-CB98-8039-3093-C8AA36FCE968}"/>
              </a:ext>
            </a:extLst>
          </p:cNvPr>
          <p:cNvSpPr>
            <a:spLocks noGrp="1"/>
          </p:cNvSpPr>
          <p:nvPr>
            <p:ph type="title"/>
          </p:nvPr>
        </p:nvSpPr>
        <p:spPr>
          <a:xfrm>
            <a:off x="457200" y="457200"/>
            <a:ext cx="8229600" cy="1143000"/>
          </a:xfrm>
        </p:spPr>
        <p:txBody>
          <a:bodyPr>
            <a:normAutofit/>
          </a:bodyPr>
          <a:lstStyle/>
          <a:p>
            <a:r>
              <a:rPr lang="en-US" dirty="0"/>
              <a:t>The Parity Principle: Otto vs. Inga</a:t>
            </a:r>
            <a:endParaRPr dirty="0"/>
          </a:p>
        </p:txBody>
      </p:sp>
      <p:sp>
        <p:nvSpPr>
          <p:cNvPr id="3" name="Content Placeholder 2">
            <a:extLst>
              <a:ext uri="{FF2B5EF4-FFF2-40B4-BE49-F238E27FC236}">
                <a16:creationId xmlns:a16="http://schemas.microsoft.com/office/drawing/2014/main" id="{2923E36D-B20E-1AFE-12C8-9F5457938EFE}"/>
              </a:ext>
            </a:extLst>
          </p:cNvPr>
          <p:cNvSpPr>
            <a:spLocks noGrp="1"/>
          </p:cNvSpPr>
          <p:nvPr>
            <p:ph idx="1"/>
          </p:nvPr>
        </p:nvSpPr>
        <p:spPr>
          <a:xfrm>
            <a:off x="457200" y="2332037"/>
            <a:ext cx="8229600" cy="4525963"/>
          </a:xfrm>
        </p:spPr>
        <p:txBody>
          <a:bodyPr>
            <a:normAutofit/>
          </a:bodyPr>
          <a:lstStyle/>
          <a:p>
            <a:r>
              <a:rPr lang="en-US" dirty="0"/>
              <a:t>Otto uses his notebook as a way to remember how to get to the art gallery. </a:t>
            </a:r>
          </a:p>
          <a:p>
            <a:r>
              <a:rPr lang="en-US" dirty="0"/>
              <a:t>Inga remembers it from her physical memory.</a:t>
            </a:r>
          </a:p>
          <a:p>
            <a:r>
              <a:rPr lang="en-US" dirty="0"/>
              <a:t>If they both do the same cognitive work, then both should count as a part of mind.</a:t>
            </a:r>
          </a:p>
          <a:p>
            <a:r>
              <a:rPr lang="en-US" dirty="0"/>
              <a:t>Otto's notebook = a type of external memory → it is part of cognition.</a:t>
            </a:r>
          </a:p>
          <a:p>
            <a:r>
              <a:rPr lang="en-US" dirty="0"/>
              <a:t>This challenges what is traditionally considered part of me, or my thought.</a:t>
            </a:r>
            <a:br>
              <a:rPr lang="en-US" dirty="0"/>
            </a:br>
            <a:br>
              <a:rPr lang="en-US" dirty="0"/>
            </a:br>
            <a:br>
              <a:rPr lang="en-US" dirty="0"/>
            </a:br>
            <a:endParaRPr dirty="0"/>
          </a:p>
        </p:txBody>
      </p:sp>
      <p:sp>
        <p:nvSpPr>
          <p:cNvPr id="4" name="TextBox 3">
            <a:extLst>
              <a:ext uri="{FF2B5EF4-FFF2-40B4-BE49-F238E27FC236}">
                <a16:creationId xmlns:a16="http://schemas.microsoft.com/office/drawing/2014/main" id="{41F13BC4-01A6-6C06-D137-C9995816A036}"/>
              </a:ext>
            </a:extLst>
          </p:cNvPr>
          <p:cNvSpPr txBox="1"/>
          <p:nvPr/>
        </p:nvSpPr>
        <p:spPr>
          <a:xfrm>
            <a:off x="5801033" y="5939135"/>
            <a:ext cx="3165986" cy="646331"/>
          </a:xfrm>
          <a:prstGeom prst="rect">
            <a:avLst/>
          </a:prstGeom>
          <a:noFill/>
        </p:spPr>
        <p:txBody>
          <a:bodyPr wrap="square" rtlCol="0">
            <a:spAutoFit/>
          </a:bodyPr>
          <a:lstStyle/>
          <a:p>
            <a:r>
              <a:rPr lang="en-IN" dirty="0"/>
              <a:t>Clark &amp; Chalmers 1998, 17</a:t>
            </a:r>
          </a:p>
          <a:p>
            <a:endParaRPr lang="en-IN" dirty="0"/>
          </a:p>
        </p:txBody>
      </p:sp>
    </p:spTree>
    <p:extLst>
      <p:ext uri="{BB962C8B-B14F-4D97-AF65-F5344CB8AC3E}">
        <p14:creationId xmlns:p14="http://schemas.microsoft.com/office/powerpoint/2010/main" val="16521045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Ethical Considerations in the Extended Mind Framework</a:t>
            </a:r>
            <a:endParaRPr dirty="0"/>
          </a:p>
        </p:txBody>
      </p:sp>
      <p:sp>
        <p:nvSpPr>
          <p:cNvPr id="3" name="Content Placeholder 2"/>
          <p:cNvSpPr>
            <a:spLocks noGrp="1"/>
          </p:cNvSpPr>
          <p:nvPr>
            <p:ph idx="1"/>
          </p:nvPr>
        </p:nvSpPr>
        <p:spPr/>
        <p:txBody>
          <a:bodyPr>
            <a:normAutofit lnSpcReduction="10000"/>
          </a:bodyPr>
          <a:lstStyle/>
          <a:p>
            <a:pPr marL="0" indent="0">
              <a:buNone/>
            </a:pPr>
            <a:r>
              <a:rPr lang="en-IN" dirty="0"/>
              <a:t>• </a:t>
            </a:r>
            <a:r>
              <a:rPr lang="en-US" dirty="0"/>
              <a:t>If technologies are included in the extended mind or thinking, denying access to the technology also means restricting cognition. </a:t>
            </a:r>
          </a:p>
          <a:p>
            <a:pPr marL="0" indent="0">
              <a:buNone/>
            </a:pPr>
            <a:r>
              <a:rPr dirty="0"/>
              <a:t>• </a:t>
            </a:r>
            <a:r>
              <a:rPr lang="en-US" dirty="0"/>
              <a:t>Ashley Shew (2022) discusses her use of assistive     technologies as features of her cyborg identity.</a:t>
            </a:r>
            <a:br>
              <a:rPr lang="en-US" dirty="0"/>
            </a:br>
            <a:r>
              <a:rPr dirty="0"/>
              <a:t>• </a:t>
            </a:r>
            <a:r>
              <a:rPr lang="en-US" dirty="0"/>
              <a:t>The Crip Technoscience Manifesto (</a:t>
            </a:r>
            <a:r>
              <a:rPr lang="en-US" dirty="0" err="1"/>
              <a:t>Hamraie</a:t>
            </a:r>
            <a:r>
              <a:rPr lang="en-US" dirty="0"/>
              <a:t> &amp; Fritsch, 2017) argues for universally designed and interdependent technology, intentionally designed for accessibility.</a:t>
            </a:r>
            <a:br>
              <a:rPr lang="en-US" dirty="0"/>
            </a:br>
            <a:r>
              <a:rPr dirty="0"/>
              <a:t>• </a:t>
            </a:r>
            <a:r>
              <a:rPr lang="en-US" dirty="0"/>
              <a:t>Ethics needs to acknowledge and value the lived experience, specifically those experiences of disabled people who use technological extensions to support their thinking.</a:t>
            </a:r>
            <a:endParaRPr dirty="0"/>
          </a:p>
        </p:txBody>
      </p:sp>
      <p:sp>
        <p:nvSpPr>
          <p:cNvPr id="4" name="TextBox 3">
            <a:extLst>
              <a:ext uri="{FF2B5EF4-FFF2-40B4-BE49-F238E27FC236}">
                <a16:creationId xmlns:a16="http://schemas.microsoft.com/office/drawing/2014/main" id="{0E0CAE23-1502-EAEF-CBA8-743806785CB0}"/>
              </a:ext>
            </a:extLst>
          </p:cNvPr>
          <p:cNvSpPr txBox="1"/>
          <p:nvPr/>
        </p:nvSpPr>
        <p:spPr>
          <a:xfrm>
            <a:off x="3893574" y="6272980"/>
            <a:ext cx="5122607" cy="369332"/>
          </a:xfrm>
          <a:prstGeom prst="rect">
            <a:avLst/>
          </a:prstGeom>
          <a:noFill/>
        </p:spPr>
        <p:txBody>
          <a:bodyPr wrap="square" rtlCol="0">
            <a:spAutoFit/>
          </a:bodyPr>
          <a:lstStyle/>
          <a:p>
            <a:r>
              <a:rPr lang="en-IN" dirty="0"/>
              <a:t>Shew 2022, 522-27; </a:t>
            </a:r>
            <a:r>
              <a:rPr lang="en-IN" dirty="0" err="1"/>
              <a:t>Hamraie</a:t>
            </a:r>
            <a:r>
              <a:rPr lang="en-IN" dirty="0"/>
              <a:t> and Fritsch 2017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6A07A-A514-16D0-E29D-B3F4D8B59E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B9609B-772C-3C93-578A-D593076B9A6E}"/>
              </a:ext>
            </a:extLst>
          </p:cNvPr>
          <p:cNvSpPr>
            <a:spLocks noGrp="1"/>
          </p:cNvSpPr>
          <p:nvPr>
            <p:ph type="title"/>
          </p:nvPr>
        </p:nvSpPr>
        <p:spPr/>
        <p:txBody>
          <a:bodyPr>
            <a:normAutofit fontScale="90000"/>
          </a:bodyPr>
          <a:lstStyle/>
          <a:p>
            <a:r>
              <a:rPr lang="en-US" dirty="0"/>
              <a:t>Criticism of Extended Mind Theory</a:t>
            </a:r>
            <a:endParaRPr dirty="0"/>
          </a:p>
        </p:txBody>
      </p:sp>
      <p:sp>
        <p:nvSpPr>
          <p:cNvPr id="3" name="Content Placeholder 2">
            <a:extLst>
              <a:ext uri="{FF2B5EF4-FFF2-40B4-BE49-F238E27FC236}">
                <a16:creationId xmlns:a16="http://schemas.microsoft.com/office/drawing/2014/main" id="{35A43D47-6133-D4A2-4CC4-7A06E421CFEC}"/>
              </a:ext>
            </a:extLst>
          </p:cNvPr>
          <p:cNvSpPr>
            <a:spLocks noGrp="1"/>
          </p:cNvSpPr>
          <p:nvPr>
            <p:ph idx="1"/>
          </p:nvPr>
        </p:nvSpPr>
        <p:spPr/>
        <p:txBody>
          <a:bodyPr>
            <a:normAutofit/>
          </a:bodyPr>
          <a:lstStyle/>
          <a:p>
            <a:pPr marL="0" indent="0">
              <a:buNone/>
            </a:pPr>
            <a:r>
              <a:rPr lang="en-IN" dirty="0"/>
              <a:t>• </a:t>
            </a:r>
            <a:r>
              <a:rPr lang="en-US" dirty="0"/>
              <a:t>Adams &amp; Aizawa (2008-2010): EMT goes too far — tools may help implement/develop thinking, but may not actually be part of thinking.</a:t>
            </a:r>
          </a:p>
          <a:p>
            <a:pPr marL="0" indent="0">
              <a:buNone/>
            </a:pPr>
            <a:r>
              <a:rPr dirty="0"/>
              <a:t>• </a:t>
            </a:r>
            <a:r>
              <a:rPr lang="en-US" dirty="0"/>
              <a:t>Some critics question whether external tools really constitute part of the "mind."</a:t>
            </a:r>
            <a:br>
              <a:rPr lang="en-US" dirty="0"/>
            </a:br>
            <a:r>
              <a:rPr dirty="0"/>
              <a:t>• </a:t>
            </a:r>
            <a:r>
              <a:rPr lang="en-US" dirty="0"/>
              <a:t>Difficult to know where cognition ends and tool use begins.</a:t>
            </a:r>
            <a:br>
              <a:rPr lang="en-US" dirty="0"/>
            </a:br>
            <a:r>
              <a:rPr dirty="0"/>
              <a:t>• </a:t>
            </a:r>
            <a:r>
              <a:rPr lang="en-US" dirty="0"/>
              <a:t>Ethics needs to acknowledge and value the lived experience, specifically those experiences of disabled people who use technological extensions to support their thinking.</a:t>
            </a:r>
            <a:endParaRPr dirty="0"/>
          </a:p>
        </p:txBody>
      </p:sp>
      <p:sp>
        <p:nvSpPr>
          <p:cNvPr id="4" name="TextBox 3">
            <a:extLst>
              <a:ext uri="{FF2B5EF4-FFF2-40B4-BE49-F238E27FC236}">
                <a16:creationId xmlns:a16="http://schemas.microsoft.com/office/drawing/2014/main" id="{3E34DD5F-E4F0-3B50-5963-6D9BA4D2B359}"/>
              </a:ext>
            </a:extLst>
          </p:cNvPr>
          <p:cNvSpPr txBox="1"/>
          <p:nvPr/>
        </p:nvSpPr>
        <p:spPr>
          <a:xfrm>
            <a:off x="5899356" y="6225966"/>
            <a:ext cx="3067664" cy="369332"/>
          </a:xfrm>
          <a:prstGeom prst="rect">
            <a:avLst/>
          </a:prstGeom>
          <a:noFill/>
        </p:spPr>
        <p:txBody>
          <a:bodyPr wrap="square" rtlCol="0">
            <a:spAutoFit/>
          </a:bodyPr>
          <a:lstStyle/>
          <a:p>
            <a:r>
              <a:rPr lang="en-IN" dirty="0"/>
              <a:t>Adams &amp; Aizawa 2008, 84</a:t>
            </a:r>
          </a:p>
        </p:txBody>
      </p:sp>
    </p:spTree>
    <p:extLst>
      <p:ext uri="{BB962C8B-B14F-4D97-AF65-F5344CB8AC3E}">
        <p14:creationId xmlns:p14="http://schemas.microsoft.com/office/powerpoint/2010/main" val="8719202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Personal Views - Technology as a Moral Extension</a:t>
            </a:r>
            <a:endParaRPr dirty="0"/>
          </a:p>
        </p:txBody>
      </p:sp>
      <p:sp>
        <p:nvSpPr>
          <p:cNvPr id="3" name="Content Placeholder 2"/>
          <p:cNvSpPr>
            <a:spLocks noGrp="1"/>
          </p:cNvSpPr>
          <p:nvPr>
            <p:ph idx="1"/>
          </p:nvPr>
        </p:nvSpPr>
        <p:spPr>
          <a:xfrm>
            <a:off x="457200" y="2199968"/>
            <a:ext cx="8229600" cy="4525963"/>
          </a:xfrm>
        </p:spPr>
        <p:txBody>
          <a:bodyPr>
            <a:normAutofit/>
          </a:bodyPr>
          <a:lstStyle/>
          <a:p>
            <a:r>
              <a:rPr lang="en-US" dirty="0"/>
              <a:t>Technology as a moral extension of who we are.</a:t>
            </a:r>
          </a:p>
          <a:p>
            <a:r>
              <a:rPr lang="en-US" dirty="0"/>
              <a:t>The digital divide is a cognitive divide, limiting participation in thinking.</a:t>
            </a:r>
            <a:endParaRPr dirty="0"/>
          </a:p>
          <a:p>
            <a:r>
              <a:rPr lang="en-US" dirty="0"/>
              <a:t>Just access of artificial intelligence, prosthetics, and digital tools can be a matter of justice. </a:t>
            </a:r>
          </a:p>
          <a:p>
            <a:r>
              <a:rPr lang="en-US" dirty="0"/>
              <a:t>We need to balance the opportunity to enhance, with equal access for all.</a:t>
            </a:r>
            <a:br>
              <a:rPr lang="en-US" dirty="0"/>
            </a:br>
            <a:endParaRPr dirty="0"/>
          </a:p>
        </p:txBody>
      </p:sp>
      <p:sp>
        <p:nvSpPr>
          <p:cNvPr id="4" name="TextBox 3">
            <a:extLst>
              <a:ext uri="{FF2B5EF4-FFF2-40B4-BE49-F238E27FC236}">
                <a16:creationId xmlns:a16="http://schemas.microsoft.com/office/drawing/2014/main" id="{A5052ED2-8966-7D55-A295-30527207841B}"/>
              </a:ext>
            </a:extLst>
          </p:cNvPr>
          <p:cNvSpPr txBox="1"/>
          <p:nvPr/>
        </p:nvSpPr>
        <p:spPr>
          <a:xfrm>
            <a:off x="6617110" y="6135329"/>
            <a:ext cx="1917290" cy="369332"/>
          </a:xfrm>
          <a:prstGeom prst="rect">
            <a:avLst/>
          </a:prstGeom>
          <a:noFill/>
        </p:spPr>
        <p:txBody>
          <a:bodyPr wrap="square" rtlCol="0">
            <a:spAutoFit/>
          </a:bodyPr>
          <a:lstStyle/>
          <a:p>
            <a:r>
              <a:rPr lang="en-IN" dirty="0"/>
              <a:t>Clark 2003, 14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CCBB0-1CDA-75BF-F789-AB9F8DC266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83A0B7-8453-C3C8-351B-7829840A5323}"/>
              </a:ext>
            </a:extLst>
          </p:cNvPr>
          <p:cNvSpPr>
            <a:spLocks noGrp="1"/>
          </p:cNvSpPr>
          <p:nvPr>
            <p:ph type="title"/>
          </p:nvPr>
        </p:nvSpPr>
        <p:spPr>
          <a:xfrm>
            <a:off x="457200" y="559774"/>
            <a:ext cx="8229600" cy="1143000"/>
          </a:xfrm>
        </p:spPr>
        <p:txBody>
          <a:bodyPr>
            <a:normAutofit/>
          </a:bodyPr>
          <a:lstStyle/>
          <a:p>
            <a:r>
              <a:rPr lang="en-US" dirty="0"/>
              <a:t>Future implications - Technology, AI and human identity</a:t>
            </a:r>
            <a:endParaRPr dirty="0"/>
          </a:p>
        </p:txBody>
      </p:sp>
      <p:sp>
        <p:nvSpPr>
          <p:cNvPr id="3" name="Content Placeholder 2">
            <a:extLst>
              <a:ext uri="{FF2B5EF4-FFF2-40B4-BE49-F238E27FC236}">
                <a16:creationId xmlns:a16="http://schemas.microsoft.com/office/drawing/2014/main" id="{8E66C172-1314-3FB8-3E4B-416158418543}"/>
              </a:ext>
            </a:extLst>
          </p:cNvPr>
          <p:cNvSpPr>
            <a:spLocks noGrp="1"/>
          </p:cNvSpPr>
          <p:nvPr>
            <p:ph idx="1"/>
          </p:nvPr>
        </p:nvSpPr>
        <p:spPr>
          <a:xfrm>
            <a:off x="457200" y="2057399"/>
            <a:ext cx="8229600" cy="4525963"/>
          </a:xfrm>
        </p:spPr>
        <p:txBody>
          <a:bodyPr>
            <a:normAutofit/>
          </a:bodyPr>
          <a:lstStyle/>
          <a:p>
            <a:r>
              <a:rPr lang="en-US" dirty="0"/>
              <a:t>EMT implies we redefine what we build as AI and in neurotechnology.</a:t>
            </a:r>
          </a:p>
          <a:p>
            <a:r>
              <a:rPr lang="en-US" dirty="0"/>
              <a:t>Blurs boundary between human thought and machine computation.</a:t>
            </a:r>
          </a:p>
          <a:p>
            <a:r>
              <a:rPr lang="en-US" dirty="0"/>
              <a:t>Begins to raise a new ethics of cognitive property ownership: who owns your extended cognitive data? </a:t>
            </a:r>
          </a:p>
          <a:p>
            <a:r>
              <a:rPr lang="en-US" dirty="0"/>
              <a:t>Education and policy should begin to advocate for digital literacy as a form of cognitive empowerment.</a:t>
            </a:r>
          </a:p>
          <a:p>
            <a:r>
              <a:rPr lang="en-US" dirty="0"/>
              <a:t>The mind of the future is hybrid, networked and collective.</a:t>
            </a:r>
            <a:br>
              <a:rPr lang="en-US" dirty="0"/>
            </a:br>
            <a:br>
              <a:rPr lang="en-US" dirty="0"/>
            </a:br>
            <a:endParaRPr dirty="0"/>
          </a:p>
        </p:txBody>
      </p:sp>
      <p:sp>
        <p:nvSpPr>
          <p:cNvPr id="4" name="TextBox 3">
            <a:extLst>
              <a:ext uri="{FF2B5EF4-FFF2-40B4-BE49-F238E27FC236}">
                <a16:creationId xmlns:a16="http://schemas.microsoft.com/office/drawing/2014/main" id="{C37CAC60-C799-A3F4-5124-EA9C6D1A31C7}"/>
              </a:ext>
            </a:extLst>
          </p:cNvPr>
          <p:cNvSpPr txBox="1"/>
          <p:nvPr/>
        </p:nvSpPr>
        <p:spPr>
          <a:xfrm>
            <a:off x="6086168" y="6194323"/>
            <a:ext cx="2212258" cy="369332"/>
          </a:xfrm>
          <a:prstGeom prst="rect">
            <a:avLst/>
          </a:prstGeom>
          <a:noFill/>
        </p:spPr>
        <p:txBody>
          <a:bodyPr wrap="square" rtlCol="0">
            <a:spAutoFit/>
          </a:bodyPr>
          <a:lstStyle/>
          <a:p>
            <a:r>
              <a:rPr lang="en-IN" dirty="0"/>
              <a:t>Clark 1998, 180-81</a:t>
            </a:r>
          </a:p>
        </p:txBody>
      </p:sp>
    </p:spTree>
    <p:extLst>
      <p:ext uri="{BB962C8B-B14F-4D97-AF65-F5344CB8AC3E}">
        <p14:creationId xmlns:p14="http://schemas.microsoft.com/office/powerpoint/2010/main" val="37817577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Conclusion – Rethinking Cognition and Ethics</a:t>
            </a:r>
          </a:p>
        </p:txBody>
      </p:sp>
      <p:sp>
        <p:nvSpPr>
          <p:cNvPr id="3" name="Content Placeholder 2"/>
          <p:cNvSpPr>
            <a:spLocks noGrp="1"/>
          </p:cNvSpPr>
          <p:nvPr>
            <p:ph idx="1"/>
          </p:nvPr>
        </p:nvSpPr>
        <p:spPr/>
        <p:txBody>
          <a:bodyPr>
            <a:normAutofit/>
          </a:bodyPr>
          <a:lstStyle/>
          <a:p>
            <a:r>
              <a:rPr lang="en-US" dirty="0"/>
              <a:t>The Extended Mind Theory is adversarial to the individualism of the brain.</a:t>
            </a:r>
          </a:p>
          <a:p>
            <a:r>
              <a:rPr lang="en-US" dirty="0"/>
              <a:t>Technology and cognition are deeply intertwined. </a:t>
            </a:r>
          </a:p>
          <a:p>
            <a:r>
              <a:rPr lang="en-US" dirty="0"/>
              <a:t>Defending access to cognitive tools is to defend the person.</a:t>
            </a:r>
            <a:endParaRPr dirty="0"/>
          </a:p>
          <a:p>
            <a:r>
              <a:rPr dirty="0"/>
              <a:t>“Interfering with someone's environment can be as wrong as interfering with their person.”</a:t>
            </a:r>
          </a:p>
          <a:p>
            <a:pPr marL="0" indent="0">
              <a:buNone/>
            </a:pPr>
            <a:r>
              <a:rPr lang="en-IN" dirty="0"/>
              <a:t>	</a:t>
            </a:r>
            <a:r>
              <a:rPr dirty="0"/>
              <a:t>– Clark &amp; Chalmers (1998)</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FAA52-3885-FD29-2742-D963ABD0C779}"/>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8C3071F7-98FD-6F15-E10D-5E8149E2A7A5}"/>
              </a:ext>
            </a:extLst>
          </p:cNvPr>
          <p:cNvSpPr>
            <a:spLocks noGrp="1"/>
          </p:cNvSpPr>
          <p:nvPr>
            <p:ph idx="1"/>
          </p:nvPr>
        </p:nvSpPr>
        <p:spPr/>
        <p:txBody>
          <a:bodyPr>
            <a:normAutofit fontScale="55000" lnSpcReduction="20000"/>
          </a:bodyPr>
          <a:lstStyle/>
          <a:p>
            <a:r>
              <a:rPr lang="en-US" dirty="0"/>
              <a:t>Clark, Andy. 1997. </a:t>
            </a:r>
            <a:r>
              <a:rPr lang="en-US" i="1" dirty="0"/>
              <a:t>Being There: Putting Brain, Body, and World Together Again.</a:t>
            </a:r>
            <a:r>
              <a:rPr lang="en-US" dirty="0"/>
              <a:t> Cambridge, MA: MIT Press.</a:t>
            </a:r>
          </a:p>
          <a:p>
            <a:r>
              <a:rPr lang="en-US" dirty="0"/>
              <a:t>Clark, Andy. 1998. “Magic Words: How Language Augments Human Computation.” In </a:t>
            </a:r>
            <a:r>
              <a:rPr lang="en-US" i="1" dirty="0"/>
              <a:t>Language and Thought,</a:t>
            </a:r>
            <a:r>
              <a:rPr lang="en-US" dirty="0"/>
              <a:t> edited by Peter Carruthers and Jill Boucher, 162–83. Cambridge: Cambridge University Press.</a:t>
            </a:r>
          </a:p>
          <a:p>
            <a:r>
              <a:rPr lang="en-US" dirty="0"/>
              <a:t>Clark, Andy. 2003. </a:t>
            </a:r>
            <a:r>
              <a:rPr lang="en-US" i="1" dirty="0"/>
              <a:t>Natural-Born Cyborgs: Minds, Technologies, and the Future of Human Intelligence.</a:t>
            </a:r>
            <a:r>
              <a:rPr lang="en-US" dirty="0"/>
              <a:t> Oxford: Oxford University Press.</a:t>
            </a:r>
          </a:p>
          <a:p>
            <a:r>
              <a:rPr lang="en-US" dirty="0"/>
              <a:t>Clark, Andy, and David Chalmers. 1998. “The Extended Mind.” </a:t>
            </a:r>
            <a:r>
              <a:rPr lang="en-US" i="1" dirty="0"/>
              <a:t>Analysis</a:t>
            </a:r>
            <a:r>
              <a:rPr lang="en-US" dirty="0"/>
              <a:t> 58 (1): 7–19.</a:t>
            </a:r>
          </a:p>
          <a:p>
            <a:r>
              <a:rPr lang="en-US" dirty="0"/>
              <a:t>Adams, Frederick, and Kenneth Aizawa. 2008. </a:t>
            </a:r>
            <a:r>
              <a:rPr lang="en-US" i="1" dirty="0"/>
              <a:t>The Bounds of Cognition.</a:t>
            </a:r>
            <a:r>
              <a:rPr lang="en-US" dirty="0"/>
              <a:t> Malden, MA: Blackwell.</a:t>
            </a:r>
          </a:p>
          <a:p>
            <a:r>
              <a:rPr lang="en-US" dirty="0"/>
              <a:t>———. 2009. “Defending the Bounds of Cognition.” In </a:t>
            </a:r>
            <a:r>
              <a:rPr lang="en-US" i="1" dirty="0"/>
              <a:t>The Extended Mind,</a:t>
            </a:r>
            <a:r>
              <a:rPr lang="en-US" dirty="0"/>
              <a:t> edited by Richard Menary, 67–80. Cambridge, MA: MIT Press.</a:t>
            </a:r>
          </a:p>
          <a:p>
            <a:r>
              <a:rPr lang="en-US" dirty="0" err="1"/>
              <a:t>Hamraie</a:t>
            </a:r>
            <a:r>
              <a:rPr lang="en-US" dirty="0"/>
              <a:t>, Aimi, and Kelly Fritsch. 2017. “Crip Technoscience Manifesto.” </a:t>
            </a:r>
            <a:r>
              <a:rPr lang="en-US" i="1" dirty="0"/>
              <a:t>Catalyst: Feminism, Theory, Technoscience</a:t>
            </a:r>
            <a:r>
              <a:rPr lang="en-US" dirty="0"/>
              <a:t> 3 (1): 1–34.</a:t>
            </a:r>
          </a:p>
          <a:p>
            <a:r>
              <a:rPr lang="en-US" dirty="0" err="1"/>
              <a:t>Ricoeur</a:t>
            </a:r>
            <a:r>
              <a:rPr lang="en-US" dirty="0"/>
              <a:t>, Paul. 2004. </a:t>
            </a:r>
            <a:r>
              <a:rPr lang="en-US" i="1" dirty="0"/>
              <a:t>Memory, History, Forgetting.</a:t>
            </a:r>
            <a:r>
              <a:rPr lang="en-US" dirty="0"/>
              <a:t> Translated by Kathleen Blamey and David </a:t>
            </a:r>
            <a:r>
              <a:rPr lang="en-US" dirty="0" err="1"/>
              <a:t>Pellauer</a:t>
            </a:r>
            <a:r>
              <a:rPr lang="en-US" dirty="0"/>
              <a:t>. Chicago: University of Chicago Press.</a:t>
            </a:r>
          </a:p>
          <a:p>
            <a:r>
              <a:rPr lang="en-US" dirty="0"/>
              <a:t>Shew, Ashley. 2022. “The Minded Body in Technology and Disability.” In </a:t>
            </a:r>
            <a:r>
              <a:rPr lang="en-US" i="1" dirty="0"/>
              <a:t>The Oxford Handbook of Philosophy of Technology,</a:t>
            </a:r>
            <a:r>
              <a:rPr lang="en-US" dirty="0"/>
              <a:t> edited by Shannon Vallor, 516–34. Oxford: Oxford University Press.</a:t>
            </a:r>
          </a:p>
          <a:p>
            <a:endParaRPr lang="en-IN" dirty="0"/>
          </a:p>
        </p:txBody>
      </p:sp>
    </p:spTree>
    <p:extLst>
      <p:ext uri="{BB962C8B-B14F-4D97-AF65-F5344CB8AC3E}">
        <p14:creationId xmlns:p14="http://schemas.microsoft.com/office/powerpoint/2010/main" val="416722621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228</TotalTime>
  <Words>1135</Words>
  <Application>Microsoft Office PowerPoint</Application>
  <PresentationFormat>On-screen Show (4:3)</PresentationFormat>
  <Paragraphs>66</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Century Gothic</vt:lpstr>
      <vt:lpstr>Wingdings 3</vt:lpstr>
      <vt:lpstr>Ion Boardroom</vt:lpstr>
      <vt:lpstr>The Ethics of the Extended Mind: Rethinking Technology as Part of Human Cognition</vt:lpstr>
      <vt:lpstr>Introduction – The Importance of this Topic</vt:lpstr>
      <vt:lpstr>Clark's Extended Mind Theory (EMT) of Cognition</vt:lpstr>
      <vt:lpstr>Historical Background – The Mind and the Brain </vt:lpstr>
      <vt:lpstr>The Parity Principle: Otto vs. Inga</vt:lpstr>
      <vt:lpstr>Ethical Considerations in the Extended Mind Framework</vt:lpstr>
      <vt:lpstr>Criticism of Extended Mind Theory</vt:lpstr>
      <vt:lpstr>Personal Views - Technology as a Moral Extension</vt:lpstr>
      <vt:lpstr>Future implications - Technology, AI and human identity</vt:lpstr>
      <vt:lpstr>Conclusion – Rethinking Cognition and Ethics</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Arnab Kar</dc:creator>
  <cp:keywords/>
  <dc:description>generated using python-pptx</dc:description>
  <cp:lastModifiedBy>Arnab Kar</cp:lastModifiedBy>
  <cp:revision>4</cp:revision>
  <dcterms:created xsi:type="dcterms:W3CDTF">2013-01-27T09:14:16Z</dcterms:created>
  <dcterms:modified xsi:type="dcterms:W3CDTF">2025-10-25T10:03:53Z</dcterms:modified>
  <cp:category/>
</cp:coreProperties>
</file>